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4387175" cy="13716000"/>
  <p:notesSz cx="13716000" cy="24387175"/>
  <p:embeddedFontLst>
    <p:embeddedFont>
      <p:font typeface="DM Sans" pitchFamily="2" charset="0"/>
      <p:regular r:id="rId6"/>
      <p:bold r:id="rId7"/>
      <p:italic r:id="rId8"/>
      <p:boldItalic r:id="rId9"/>
    </p:embeddedFont>
    <p:embeddedFont>
      <p:font typeface="VT323" panose="020B0604020202020204" charset="0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h0czfvKuobA4etP3i7L7AirGBW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font" Target="fonts/font2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40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C0BE5FC-25E0-44B5-E0C3-0F181472A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425"/>
            <a:ext cx="24708678" cy="14000849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23" name="Google Shape;23;p1"/>
          <p:cNvSpPr/>
          <p:nvPr/>
        </p:nvSpPr>
        <p:spPr>
          <a:xfrm>
            <a:off x="5457377" y="811940"/>
            <a:ext cx="13793924" cy="40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5">
              <a:buClr>
                <a:srgbClr val="272727"/>
              </a:buClr>
              <a:buSzPts val="24000"/>
            </a:pPr>
            <a:r>
              <a:rPr lang="pl-PL" sz="24000" dirty="0">
                <a:solidFill>
                  <a:schemeClr val="bg1"/>
                </a:solidFill>
                <a:latin typeface="VT323"/>
                <a:ea typeface="Calibri"/>
                <a:cs typeface="Calibri"/>
                <a:sym typeface="VT323"/>
              </a:rPr>
              <a:t>RoboRescue:</a:t>
            </a:r>
            <a:endParaRPr lang="pl-PL" sz="24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384473" y="7366000"/>
            <a:ext cx="13302796" cy="132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6400"/>
              <a:buFont typeface="DM Sans"/>
              <a:buNone/>
            </a:pPr>
            <a:endParaRPr sz="6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AF840A-0156-98A3-FBA0-62B574FFDF4B}"/>
              </a:ext>
            </a:extLst>
          </p:cNvPr>
          <p:cNvSpPr txBox="1"/>
          <p:nvPr/>
        </p:nvSpPr>
        <p:spPr>
          <a:xfrm>
            <a:off x="5941874" y="3675611"/>
            <a:ext cx="1250342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5000" dirty="0">
                <a:solidFill>
                  <a:schemeClr val="bg1"/>
                </a:solidFill>
                <a:latin typeface="VT323"/>
                <a:ea typeface="Calibri"/>
                <a:cs typeface="Calibri"/>
                <a:sym typeface="VT323"/>
              </a:rPr>
              <a:t>Strażnik Miasta</a:t>
            </a:r>
            <a:endParaRPr lang="pl-PL" sz="15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65B5F-6710-DB84-7B07-627890A1A9FB}"/>
              </a:ext>
            </a:extLst>
          </p:cNvPr>
          <p:cNvSpPr txBox="1"/>
          <p:nvPr/>
        </p:nvSpPr>
        <p:spPr>
          <a:xfrm>
            <a:off x="6090961" y="6865015"/>
            <a:ext cx="1220525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3000" dirty="0">
                <a:solidFill>
                  <a:schemeClr val="bg1"/>
                </a:solidFill>
                <a:latin typeface="VT323"/>
                <a:ea typeface="Calibri"/>
                <a:cs typeface="Calibri"/>
                <a:sym typeface="VT323"/>
              </a:rPr>
              <a:t>Game Concept Pitch</a:t>
            </a:r>
            <a:endParaRPr lang="pl-PL" sz="13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7AC044-1EF3-7785-E02A-960C7C248C20}"/>
              </a:ext>
            </a:extLst>
          </p:cNvPr>
          <p:cNvSpPr txBox="1"/>
          <p:nvPr/>
        </p:nvSpPr>
        <p:spPr>
          <a:xfrm>
            <a:off x="5347557" y="11317639"/>
            <a:ext cx="136920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VT323"/>
                <a:ea typeface="Calibri"/>
                <a:cs typeface="Calibri"/>
                <a:sym typeface="VT323"/>
              </a:rPr>
              <a:t>„Ai w służbie bezpieczeństwa Publicznego”</a:t>
            </a:r>
            <a:endParaRPr lang="pl-PL" sz="7200" dirty="0"/>
          </a:p>
          <a:p>
            <a:pPr algn="ctr"/>
            <a:endParaRPr lang="pl-PL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8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819900"/>
            <a:ext cx="2438704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24387048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70" y="0"/>
            <a:ext cx="2272113" cy="354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49756" y="0"/>
            <a:ext cx="2272734" cy="3549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11137900"/>
            <a:ext cx="24387048" cy="25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0" y="3302000"/>
            <a:ext cx="24387048" cy="20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1447800"/>
            <a:ext cx="12879410" cy="10744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" descr="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879410" y="1447800"/>
            <a:ext cx="11507638" cy="1074420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648973" y="3320221"/>
            <a:ext cx="5101804" cy="21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VT323"/>
              <a:buNone/>
            </a:pPr>
            <a:r>
              <a:rPr lang="pl-PL" sz="14000" b="0" i="0" u="none" strike="noStrike" cap="none" dirty="0">
                <a:solidFill>
                  <a:srgbClr val="272727"/>
                </a:solidFill>
                <a:latin typeface="VT323"/>
                <a:ea typeface="VT323"/>
                <a:cs typeface="VT323"/>
                <a:sym typeface="VT323"/>
              </a:rPr>
              <a:t>Witamy!</a:t>
            </a:r>
            <a:endParaRPr sz="1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00192" y="5723466"/>
            <a:ext cx="14399366" cy="226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rgbClr val="0E0E0E"/>
              </a:buClr>
              <a:buSzPts val="3200"/>
            </a:pPr>
            <a:r>
              <a:rPr lang="pl-PL" sz="3200" b="1" dirty="0">
                <a:latin typeface="DM Sans" pitchFamily="2" charset="0"/>
              </a:rPr>
              <a:t>Gra to interaktywna symulacja zintegrowanego systemu bezpieczeństwa publicznego, inspirowana ekosystemem Motorola Solutions, skupiona na koordynacji, komunikacji i szybkich decyzjach.</a:t>
            </a:r>
            <a:endParaRPr sz="3200" b="1" i="0" u="none" strike="noStrike" cap="none" dirty="0">
              <a:solidFill>
                <a:schemeClr val="dk1"/>
              </a:solidFill>
              <a:latin typeface="DM Sans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544B2-0DD5-5F77-4659-26361B73B4AD}"/>
              </a:ext>
            </a:extLst>
          </p:cNvPr>
          <p:cNvSpPr txBox="1"/>
          <p:nvPr/>
        </p:nvSpPr>
        <p:spPr>
          <a:xfrm>
            <a:off x="8484816" y="11306891"/>
            <a:ext cx="8340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b="1" dirty="0"/>
              <a:t>Koordynacja / komunikacja / decyzje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164A9-634D-AC1E-EC0A-439F325995E9}"/>
              </a:ext>
            </a:extLst>
          </p:cNvPr>
          <p:cNvSpPr txBox="1"/>
          <p:nvPr/>
        </p:nvSpPr>
        <p:spPr>
          <a:xfrm>
            <a:off x="9408146" y="10021673"/>
            <a:ext cx="592982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7000" dirty="0">
                <a:latin typeface="VT323" panose="020B0604020202020204" charset="0"/>
              </a:rPr>
              <a:t>Core Values Gry: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2F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7048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" descr=" 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49956" y="8318500"/>
            <a:ext cx="2337092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 descr="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8318500"/>
            <a:ext cx="2337092" cy="30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" descr="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9140" y="10452100"/>
            <a:ext cx="4674184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 descr="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0" y="1193800"/>
            <a:ext cx="24387048" cy="379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" descr="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1" y="12242800"/>
            <a:ext cx="24609287" cy="14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23370921" y="10515600"/>
            <a:ext cx="1016127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655632" y="1320800"/>
            <a:ext cx="11617719" cy="216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2727"/>
              </a:buClr>
              <a:buSzPts val="12800"/>
              <a:buFont typeface="VT323"/>
              <a:buNone/>
            </a:pPr>
            <a:r>
              <a:rPr lang="pl-PL" sz="12800" dirty="0">
                <a:solidFill>
                  <a:srgbClr val="272727"/>
                </a:solidFill>
                <a:latin typeface="VT323"/>
                <a:ea typeface="Calibri"/>
                <a:cs typeface="Calibri"/>
                <a:sym typeface="VT323"/>
              </a:rPr>
              <a:t>Pętla Rozgrywki</a:t>
            </a:r>
            <a:endParaRPr sz="1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266733" y="45212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66733" y="47117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350" y="4351130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dirty="0">
                <a:solidFill>
                  <a:srgbClr val="0E0E0E"/>
                </a:solidFill>
                <a:latin typeface="VT323"/>
                <a:ea typeface="VT323"/>
                <a:cs typeface="VT323"/>
                <a:sym typeface="VT323"/>
              </a:rPr>
              <a:t>Alarm: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7963" y="5065459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pl-PL" sz="3200" b="1" dirty="0">
                <a:solidFill>
                  <a:srgbClr val="0E0E0E"/>
                </a:solidFill>
                <a:latin typeface="DM Sans"/>
                <a:ea typeface="Calibri"/>
                <a:cs typeface="Calibri"/>
                <a:sym typeface="DM Sans"/>
              </a:rPr>
              <a:t>Pojawienie się na mapie zdarzenia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01600" y="4521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6401600" y="4521200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865208" y="4927600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 dirty="0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01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6372346" y="45212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372346" y="4521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16372346" y="4521200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6835954" y="4927600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02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8201375" y="47117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8167503" y="4351130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dirty="0">
                <a:solidFill>
                  <a:srgbClr val="0E0E0E"/>
                </a:solidFill>
                <a:latin typeface="VT323"/>
                <a:ea typeface="Calibri"/>
                <a:cs typeface="Calibri"/>
                <a:sym typeface="VT323"/>
              </a:rPr>
              <a:t>Reakcja: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8133632" y="5185096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pl-PL" sz="3200" b="1" dirty="0">
                <a:solidFill>
                  <a:srgbClr val="0E0E0E"/>
                </a:solidFill>
                <a:latin typeface="DM Sans"/>
                <a:ea typeface="Calibri"/>
                <a:cs typeface="Calibri"/>
                <a:sym typeface="DM Sans"/>
              </a:rPr>
              <a:t>Podjęcie działań przez gracza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266733" y="75057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66733" y="76962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3507" y="7261989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dirty="0">
                <a:solidFill>
                  <a:srgbClr val="0E0E0E"/>
                </a:solidFill>
                <a:latin typeface="VT323"/>
                <a:ea typeface="Calibri"/>
                <a:cs typeface="Calibri"/>
                <a:sym typeface="VT323"/>
              </a:rPr>
              <a:t>Interwencja: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31249" y="7990509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pl-PL" sz="3200" b="1" dirty="0">
                <a:solidFill>
                  <a:srgbClr val="0E0E0E"/>
                </a:solidFill>
                <a:latin typeface="DM Sans"/>
                <a:ea typeface="Calibri"/>
                <a:cs typeface="Calibri"/>
                <a:sym typeface="DM Sans"/>
              </a:rPr>
              <a:t>Krótka Minigierka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01600" y="75057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"/>
          <p:cNvSpPr/>
          <p:nvPr/>
        </p:nvSpPr>
        <p:spPr>
          <a:xfrm>
            <a:off x="6401600" y="7346950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865208" y="7715250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 dirty="0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03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6372346" y="75057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372346" y="75057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6396710" y="7346950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6893779" y="7715250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 dirty="0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04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201375" y="76962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18121059" y="7259615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b="0" i="0" u="none" strike="noStrike" cap="none" dirty="0">
                <a:solidFill>
                  <a:srgbClr val="0E0E0E"/>
                </a:solidFill>
                <a:latin typeface="VT323"/>
                <a:ea typeface="VT323"/>
                <a:cs typeface="VT323"/>
                <a:sym typeface="VT323"/>
              </a:rPr>
              <a:t>Raport: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18096695" y="7990508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pl-PL" sz="3200" b="1" dirty="0">
                <a:solidFill>
                  <a:srgbClr val="0E0E0E"/>
                </a:solidFill>
                <a:latin typeface="DM Sans"/>
                <a:ea typeface="DM Sans"/>
                <a:cs typeface="DM Sans"/>
                <a:sym typeface="DM Sans"/>
              </a:rPr>
              <a:t>Ocena i nagrodzenie gracza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66733" y="104902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66733" y="106807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2560" y="10003367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dirty="0">
                <a:solidFill>
                  <a:srgbClr val="0E0E0E"/>
                </a:solidFill>
                <a:latin typeface="VT323"/>
                <a:ea typeface="VT323"/>
                <a:cs typeface="VT323"/>
                <a:sym typeface="VT323"/>
              </a:rPr>
              <a:t>U</a:t>
            </a:r>
            <a:r>
              <a:rPr lang="pl-PL" sz="4800" b="0" i="0" u="none" strike="noStrike" cap="none" dirty="0">
                <a:solidFill>
                  <a:srgbClr val="0E0E0E"/>
                </a:solidFill>
                <a:latin typeface="VT323"/>
                <a:ea typeface="VT323"/>
                <a:cs typeface="VT323"/>
                <a:sym typeface="VT323"/>
              </a:rPr>
              <a:t>lepszenie: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155614" y="10816167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3200"/>
              <a:buFont typeface="DM Sans"/>
              <a:buNone/>
            </a:pPr>
            <a:r>
              <a:rPr lang="pl-PL" sz="3200" b="1" dirty="0">
                <a:solidFill>
                  <a:srgbClr val="0E0E0E"/>
                </a:solidFill>
                <a:latin typeface="DM Sans"/>
                <a:ea typeface="Calibri"/>
                <a:cs typeface="Calibri"/>
                <a:sym typeface="DM Sans"/>
              </a:rPr>
              <a:t>Zakup ulepszeń</a:t>
            </a:r>
            <a:endParaRPr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01600" y="1049020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6401600" y="10054535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6865208" y="10430749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 dirty="0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05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16372346" y="10490200"/>
            <a:ext cx="7760670" cy="16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3" descr="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390361" y="10255250"/>
            <a:ext cx="1625803" cy="16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16396711" y="9998029"/>
            <a:ext cx="1625803" cy="1625600"/>
          </a:xfrm>
          <a:prstGeom prst="roundRect">
            <a:avLst>
              <a:gd name="adj" fmla="val 781313"/>
            </a:avLst>
          </a:prstGeom>
          <a:noFill/>
          <a:ln w="50800" cap="flat" cmpd="sng">
            <a:solidFill>
              <a:srgbClr val="0B7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16855007" y="10319855"/>
            <a:ext cx="69858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7086"/>
              </a:buClr>
              <a:buSzPts val="4800"/>
              <a:buFont typeface="VT323"/>
              <a:buNone/>
            </a:pPr>
            <a:r>
              <a:rPr lang="en-US" sz="4800" b="0" i="0" u="none" strike="noStrike" cap="none" dirty="0">
                <a:solidFill>
                  <a:srgbClr val="0B7086"/>
                </a:solidFill>
                <a:latin typeface="VT323"/>
                <a:ea typeface="VT323"/>
                <a:cs typeface="VT323"/>
                <a:sym typeface="VT323"/>
              </a:rPr>
              <a:t>06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8201375" y="10680700"/>
            <a:ext cx="5931641" cy="12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18201375" y="9901197"/>
            <a:ext cx="6134867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4800"/>
              <a:buFont typeface="VT323"/>
              <a:buNone/>
            </a:pPr>
            <a:r>
              <a:rPr lang="pl-PL" sz="4800" b="0" i="0" u="none" strike="noStrike" cap="none" dirty="0">
                <a:solidFill>
                  <a:srgbClr val="0E0E0E"/>
                </a:solidFill>
                <a:latin typeface="VT323"/>
                <a:ea typeface="VT323"/>
                <a:cs typeface="VT323"/>
                <a:sym typeface="VT323"/>
              </a:rPr>
              <a:t>Rosnąca Trudność: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8177010" y="10713997"/>
            <a:ext cx="6067125" cy="668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E0E0E"/>
              </a:buClr>
              <a:buSzPts val="3200"/>
            </a:pPr>
            <a:r>
              <a:rPr lang="pl-PL" sz="3200" b="1" dirty="0">
                <a:latin typeface="DM Sans" pitchFamily="2" charset="0"/>
              </a:rPr>
              <a:t>Coraz bardziej złożone zdarzenia i większa presja czasu.</a:t>
            </a:r>
            <a:endParaRPr sz="3200" b="1" i="0" u="none" strike="noStrike" cap="none" dirty="0">
              <a:solidFill>
                <a:schemeClr val="dk1"/>
              </a:solidFill>
              <a:latin typeface="DM Sans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3" descr="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75184" y="3378200"/>
            <a:ext cx="7049381" cy="854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Custom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DM Sans</vt:lpstr>
      <vt:lpstr>Arial</vt:lpstr>
      <vt:lpstr>Calibri</vt:lpstr>
      <vt:lpstr>VT323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Maksymilian Kolak</cp:lastModifiedBy>
  <cp:revision>2</cp:revision>
  <dcterms:created xsi:type="dcterms:W3CDTF">2023-11-27T11:05:53Z</dcterms:created>
  <dcterms:modified xsi:type="dcterms:W3CDTF">2026-02-01T20:20:37Z</dcterms:modified>
</cp:coreProperties>
</file>